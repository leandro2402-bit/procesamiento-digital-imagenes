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0" r:id="rId2"/>
    <p:sldId id="256" r:id="rId3"/>
    <p:sldId id="271" r:id="rId4"/>
    <p:sldId id="257" r:id="rId5"/>
    <p:sldId id="261" r:id="rId6"/>
    <p:sldId id="258" r:id="rId7"/>
    <p:sldId id="283" r:id="rId8"/>
    <p:sldId id="262" r:id="rId9"/>
    <p:sldId id="28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3969" autoAdjust="0"/>
  </p:normalViewPr>
  <p:slideViewPr>
    <p:cSldViewPr snapToGrid="0" snapToObjects="1">
      <p:cViewPr>
        <p:scale>
          <a:sx n="64" d="100"/>
          <a:sy n="64" d="100"/>
        </p:scale>
        <p:origin x="876" y="-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CD9E0-4607-4944-9B8C-3164069D6F3E}" type="datetimeFigureOut">
              <a:rPr lang="es-CO" smtClean="0"/>
              <a:t>18/06/2026</a:t>
            </a:fld>
            <a:endParaRPr 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819C0-32E3-4DB2-ACF7-0D328307F3C1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80672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D57638-A15C-4B19-8FB0-3340A655FBA7}" type="slidenum">
              <a:rPr lang="es-CO" smtClean="0"/>
              <a:t>1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10756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3" descr="Fondo hexagonal con luces de neón azules">
            <a:extLst>
              <a:ext uri="{FF2B5EF4-FFF2-40B4-BE49-F238E27FC236}">
                <a16:creationId xmlns:a16="http://schemas.microsoft.com/office/drawing/2014/main" id="{115F2FB2-B6E1-6941-C37F-2C0D1D64B0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97" r="15603"/>
          <a:stretch/>
        </p:blipFill>
        <p:spPr>
          <a:xfrm>
            <a:off x="0" y="10"/>
            <a:ext cx="12191999" cy="6857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D9A11F-83E7-ECD5-14A3-803CFADD510B}"/>
              </a:ext>
            </a:extLst>
          </p:cNvPr>
          <p:cNvSpPr txBox="1"/>
          <p:nvPr/>
        </p:nvSpPr>
        <p:spPr>
          <a:xfrm>
            <a:off x="2023672" y="1682483"/>
            <a:ext cx="7686256" cy="175432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sz="5400" b="1" i="0" dirty="0">
                <a:solidFill>
                  <a:srgbClr val="ECECEC"/>
                </a:solidFill>
                <a:effectLst/>
                <a:latin typeface="+mj-lt"/>
              </a:rPr>
              <a:t>Clasificador de lesiones cutáneas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73350F-6C10-C96A-764F-0F5F86DEBFED}"/>
              </a:ext>
            </a:extLst>
          </p:cNvPr>
          <p:cNvSpPr txBox="1"/>
          <p:nvPr/>
        </p:nvSpPr>
        <p:spPr>
          <a:xfrm>
            <a:off x="7398945" y="5439528"/>
            <a:ext cx="4621966" cy="101566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2000" b="1" dirty="0"/>
              <a:t>HAMERSON JHOEL PIARPUEZAN</a:t>
            </a:r>
          </a:p>
          <a:p>
            <a:endParaRPr lang="es-CO" sz="2000" b="1" dirty="0"/>
          </a:p>
          <a:p>
            <a:pPr algn="ctr"/>
            <a:r>
              <a:rPr lang="es-CO" sz="2000" b="1" dirty="0"/>
              <a:t>LEANDRO ZAPATA MARÍN</a:t>
            </a:r>
          </a:p>
        </p:txBody>
      </p:sp>
    </p:spTree>
    <p:extLst>
      <p:ext uri="{BB962C8B-B14F-4D97-AF65-F5344CB8AC3E}">
        <p14:creationId xmlns:p14="http://schemas.microsoft.com/office/powerpoint/2010/main" val="1129384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Fondo hexagonal con luces de neón azules">
            <a:extLst>
              <a:ext uri="{FF2B5EF4-FFF2-40B4-BE49-F238E27FC236}">
                <a16:creationId xmlns:a16="http://schemas.microsoft.com/office/drawing/2014/main" id="{50006F9A-9C2E-7BB1-2558-F7AECE7DC5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7" r="15603"/>
          <a:stretch/>
        </p:blipFill>
        <p:spPr>
          <a:xfrm>
            <a:off x="-63699" y="10"/>
            <a:ext cx="12415593" cy="69854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31649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ES" sz="4800" b="1" dirty="0">
                <a:solidFill>
                  <a:schemeClr val="bg1"/>
                </a:solidFill>
                <a:latin typeface="+mj-lt"/>
              </a:rPr>
              <a:t>Contexto del problema</a:t>
            </a:r>
            <a:endParaRPr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723E6FA-0F1D-1A35-12FB-1F579BD46583}"/>
              </a:ext>
            </a:extLst>
          </p:cNvPr>
          <p:cNvSpPr/>
          <p:nvPr/>
        </p:nvSpPr>
        <p:spPr>
          <a:xfrm>
            <a:off x="293989" y="1536372"/>
            <a:ext cx="7515068" cy="450079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C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D5D7579-1D6F-4B93-B576-1C490E266AFD}"/>
              </a:ext>
            </a:extLst>
          </p:cNvPr>
          <p:cNvSpPr txBox="1"/>
          <p:nvPr/>
        </p:nvSpPr>
        <p:spPr>
          <a:xfrm>
            <a:off x="342697" y="1522464"/>
            <a:ext cx="7515068" cy="48320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s-MX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melanoma representa menos del 5% de los cánceres de piel pero es causante de la mayoría de las muertes asociadas a esta enfermedad. </a:t>
            </a:r>
          </a:p>
          <a:p>
            <a:pPr algn="just">
              <a:buNone/>
            </a:pPr>
            <a:r>
              <a:rPr lang="es-MX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Detectado en estado temprano, la supervivencia a 5 años supera el 90%; en estadio metastásico cae por debajo del 30%.</a:t>
            </a:r>
          </a:p>
          <a:p>
            <a:pPr algn="just">
              <a:buNone/>
            </a:pPr>
            <a:r>
              <a:rPr lang="es-MX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reto clínico no es solo diagnosticar, sino priorizar. un dermatólogo revisa decenas de lesiones por consulta, y un sistema de apoyo visual puede señalar cuáles requieren atención inmediata.</a:t>
            </a:r>
            <a:endParaRPr lang="es-C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Imágenes del melanoma para identificar cáncer de piel ...">
            <a:extLst>
              <a:ext uri="{FF2B5EF4-FFF2-40B4-BE49-F238E27FC236}">
                <a16:creationId xmlns:a16="http://schemas.microsoft.com/office/drawing/2014/main" id="{75170F94-BDBA-B806-11BB-F9B52C2E5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9368" y="2462453"/>
            <a:ext cx="3518109" cy="1977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Fondo hexagonal con luces de neón azules">
            <a:extLst>
              <a:ext uri="{FF2B5EF4-FFF2-40B4-BE49-F238E27FC236}">
                <a16:creationId xmlns:a16="http://schemas.microsoft.com/office/drawing/2014/main" id="{50006F9A-9C2E-7BB1-2558-F7AECE7DC5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7" r="15603"/>
          <a:stretch/>
        </p:blipFill>
        <p:spPr>
          <a:xfrm>
            <a:off x="-63699" y="10"/>
            <a:ext cx="12415593" cy="69854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MX" sz="5400" b="1" dirty="0">
                <a:solidFill>
                  <a:schemeClr val="bg1"/>
                </a:solidFill>
                <a:latin typeface="+mj-lt"/>
              </a:rPr>
              <a:t>Propuesta</a:t>
            </a:r>
            <a:endParaRPr sz="5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799" cy="5115392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marL="0" indent="0" algn="just">
              <a:buNone/>
            </a:pPr>
            <a:r>
              <a:rPr lang="es-MX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 sistema de visión por computador que se encargue de clasificar si la imagen tomada pertenece a una lesión benigna, un melanoma maligno u otro tipo de cáncer de piel.</a:t>
            </a:r>
          </a:p>
          <a:p>
            <a:pPr marL="0" indent="0">
              <a:buNone/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1E8452-DBA8-31F4-DBC2-9248C29AE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519" y="2995449"/>
            <a:ext cx="7712018" cy="358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4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ondo hexagonal con luces de neón azules">
            <a:extLst>
              <a:ext uri="{FF2B5EF4-FFF2-40B4-BE49-F238E27FC236}">
                <a16:creationId xmlns:a16="http://schemas.microsoft.com/office/drawing/2014/main" id="{131531E0-C5A3-F8F7-C24A-B856E7EE73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7" r="1560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9687"/>
            <a:ext cx="10972800" cy="1143000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MX" sz="5400" b="1" dirty="0">
                <a:solidFill>
                  <a:schemeClr val="bg1"/>
                </a:solidFill>
                <a:latin typeface="+mj-lt"/>
              </a:rPr>
              <a:t>Base de datos</a:t>
            </a:r>
            <a:endParaRPr sz="5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145373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Roboflow Universe  -  Origen ISIC  -  licencia CC BY 4.0</a:t>
            </a:r>
          </a:p>
          <a:p>
            <a:pPr marL="0" indent="0">
              <a:buNone/>
            </a:pPr>
            <a:endParaRPr lang="es-CO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CO" sz="2800" dirty="0">
              <a:solidFill>
                <a:schemeClr val="bg1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E6D2C26-CB32-D632-9AE6-A66F76320B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317"/>
          <a:stretch>
            <a:fillRect/>
          </a:stretch>
        </p:blipFill>
        <p:spPr>
          <a:xfrm>
            <a:off x="609600" y="2262446"/>
            <a:ext cx="10972800" cy="39884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ondo hexagonal con luces de neón azules">
            <a:extLst>
              <a:ext uri="{FF2B5EF4-FFF2-40B4-BE49-F238E27FC236}">
                <a16:creationId xmlns:a16="http://schemas.microsoft.com/office/drawing/2014/main" id="{131531E0-C5A3-F8F7-C24A-B856E7EE73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7" r="1560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MX" sz="5400" b="1" dirty="0">
                <a:solidFill>
                  <a:schemeClr val="bg1"/>
                </a:solidFill>
                <a:latin typeface="+mj-lt"/>
              </a:rPr>
              <a:t>A</a:t>
            </a:r>
            <a:r>
              <a:rPr lang="es-CO" sz="5400" b="1" dirty="0">
                <a:solidFill>
                  <a:schemeClr val="bg1"/>
                </a:solidFill>
                <a:latin typeface="+mj-lt"/>
              </a:rPr>
              <a:t>rquitectura utilizada</a:t>
            </a:r>
            <a:endParaRPr sz="5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145373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s-MX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7CABBFF-239E-F1CD-980C-8581050FE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163" y="1600200"/>
            <a:ext cx="9878518" cy="476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43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ondo hexagonal con luces de neón azules">
            <a:extLst>
              <a:ext uri="{FF2B5EF4-FFF2-40B4-BE49-F238E27FC236}">
                <a16:creationId xmlns:a16="http://schemas.microsoft.com/office/drawing/2014/main" id="{E822E352-A008-463E-DA6E-934F29BCF2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7" r="1560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9688"/>
            <a:ext cx="10972800" cy="1143000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+mj-lt"/>
              </a:rPr>
              <a:t>F</a:t>
            </a:r>
            <a:r>
              <a:rPr lang="es-CO" sz="4800" b="1" dirty="0">
                <a:solidFill>
                  <a:schemeClr val="bg1"/>
                </a:solidFill>
                <a:latin typeface="+mj-lt"/>
              </a:rPr>
              <a:t>unción de perdida y manejo del desbalance</a:t>
            </a:r>
            <a:endParaRPr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856219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CrossEntropyLoss  -  estándar para clasificación multiclase</a:t>
            </a:r>
          </a:p>
          <a:p>
            <a:pPr marL="0" indent="0">
              <a:buNone/>
            </a:pPr>
            <a:endParaRPr lang="es-CO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85CCBBE-FB5D-589F-99E5-3F0765544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985" y="2796546"/>
            <a:ext cx="5667530" cy="20003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ondo hexagonal con luces de neón azules">
            <a:extLst>
              <a:ext uri="{FF2B5EF4-FFF2-40B4-BE49-F238E27FC236}">
                <a16:creationId xmlns:a16="http://schemas.microsoft.com/office/drawing/2014/main" id="{E822E352-A008-463E-DA6E-934F29BCF2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7" r="1560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9688"/>
            <a:ext cx="10972800" cy="1143000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+mj-lt"/>
              </a:rPr>
              <a:t>Métricas</a:t>
            </a:r>
            <a:r>
              <a:rPr lang="es-CO" sz="4800" b="1" dirty="0">
                <a:solidFill>
                  <a:schemeClr val="bg1"/>
                </a:solidFill>
                <a:latin typeface="+mj-lt"/>
              </a:rPr>
              <a:t> rendimiento del modelo</a:t>
            </a:r>
            <a:endParaRPr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41067"/>
            <a:ext cx="10972800" cy="5250047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s-MX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CO" dirty="0">
              <a:solidFill>
                <a:schemeClr val="bg1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0B2255D-BCD0-3509-AF15-6C7F3F044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252" y="1542366"/>
            <a:ext cx="10043410" cy="457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30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Fondo hexagonal con luces de neón azules">
            <a:extLst>
              <a:ext uri="{FF2B5EF4-FFF2-40B4-BE49-F238E27FC236}">
                <a16:creationId xmlns:a16="http://schemas.microsoft.com/office/drawing/2014/main" id="{50006F9A-9C2E-7BB1-2558-F7AECE7DC5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7" r="15603"/>
          <a:stretch/>
        </p:blipFill>
        <p:spPr>
          <a:xfrm>
            <a:off x="-63699" y="10"/>
            <a:ext cx="12415593" cy="69854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+mj-lt"/>
              </a:rPr>
              <a:t>Progresión del entrenamiento</a:t>
            </a:r>
            <a:endParaRPr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799" cy="4525963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endParaRPr lang="es-MX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5096702-DAF0-32AC-D11F-FD5FC9E7F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1692267"/>
            <a:ext cx="10972799" cy="44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11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09553-17E6-8CA2-A8C9-B4FDCBE61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Fondo hexagonal con luces de neón azules">
            <a:extLst>
              <a:ext uri="{FF2B5EF4-FFF2-40B4-BE49-F238E27FC236}">
                <a16:creationId xmlns:a16="http://schemas.microsoft.com/office/drawing/2014/main" id="{2D5EDD7C-CBD7-C7A8-A8A3-7D69D42F85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7" r="15603"/>
          <a:stretch/>
        </p:blipFill>
        <p:spPr>
          <a:xfrm>
            <a:off x="-63699" y="10"/>
            <a:ext cx="12415593" cy="6985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7BC9D-8515-22F1-C34F-45D6BF19799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+mj-lt"/>
              </a:rPr>
              <a:t>Progresión del entrenamiento</a:t>
            </a:r>
            <a:endParaRPr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508F3-3BAD-B772-7897-334D10C5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799" cy="4525963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endParaRPr lang="es-MX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1B2E26-F840-1D1C-0B8B-0F3D77E71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0202"/>
            <a:ext cx="10968477" cy="430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99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ondo hexagonal con luces de neón azules">
            <a:extLst>
              <a:ext uri="{FF2B5EF4-FFF2-40B4-BE49-F238E27FC236}">
                <a16:creationId xmlns:a16="http://schemas.microsoft.com/office/drawing/2014/main" id="{131531E0-C5A3-F8F7-C24A-B856E7EE73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7" r="1560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9687"/>
            <a:ext cx="10972800" cy="1143000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MX" sz="4800" b="1" dirty="0">
                <a:solidFill>
                  <a:schemeClr val="bg1"/>
                </a:solidFill>
                <a:latin typeface="+mj-lt"/>
              </a:rPr>
              <a:t>D</a:t>
            </a:r>
            <a:r>
              <a:rPr lang="es-CO" sz="4800" b="1" dirty="0">
                <a:solidFill>
                  <a:schemeClr val="bg1"/>
                </a:solidFill>
                <a:latin typeface="+mj-lt"/>
              </a:rPr>
              <a:t>espliegue en hugging face</a:t>
            </a:r>
            <a:endParaRPr sz="4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257790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s-MX" sz="2800" dirty="0"/>
          </a:p>
          <a:p>
            <a:pPr marL="0" indent="0">
              <a:buNone/>
            </a:pPr>
            <a:endParaRPr lang="es-MX" sz="2800" dirty="0"/>
          </a:p>
          <a:p>
            <a:pPr>
              <a:buFont typeface="Wingdings" panose="05000000000000000000" pitchFamily="2" charset="2"/>
              <a:buChar char="Ø"/>
            </a:pPr>
            <a:endParaRPr lang="es-MX" sz="28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s-MX" sz="28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49C0311-8D21-092C-174F-702D1112CA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98"/>
          <a:stretch>
            <a:fillRect/>
          </a:stretch>
        </p:blipFill>
        <p:spPr>
          <a:xfrm>
            <a:off x="1109272" y="1542364"/>
            <a:ext cx="10473128" cy="500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05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174</Words>
  <Application>Microsoft Office PowerPoint</Application>
  <PresentationFormat>Panorámica</PresentationFormat>
  <Paragraphs>23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Wingdings</vt:lpstr>
      <vt:lpstr>Office Theme</vt:lpstr>
      <vt:lpstr>Presentación de PowerPoint</vt:lpstr>
      <vt:lpstr>Contexto del problema</vt:lpstr>
      <vt:lpstr>Propuesta</vt:lpstr>
      <vt:lpstr>Base de datos</vt:lpstr>
      <vt:lpstr>Arquitectura utilizada</vt:lpstr>
      <vt:lpstr>Función de perdida y manejo del desbalance</vt:lpstr>
      <vt:lpstr>Métricas rendimiento del modelo</vt:lpstr>
      <vt:lpstr>Progresión del entrenamiento</vt:lpstr>
      <vt:lpstr>Progresión del entrenamiento</vt:lpstr>
      <vt:lpstr>Despliegue en hugging face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Leandro</dc:creator>
  <cp:keywords/>
  <dc:description>generated using python-pptx</dc:description>
  <cp:lastModifiedBy>Rosa María Marín Grajales</cp:lastModifiedBy>
  <cp:revision>23</cp:revision>
  <dcterms:created xsi:type="dcterms:W3CDTF">2013-01-27T09:14:16Z</dcterms:created>
  <dcterms:modified xsi:type="dcterms:W3CDTF">2026-06-18T19:27:08Z</dcterms:modified>
  <cp:category/>
</cp:coreProperties>
</file>